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Kanit Thin"/>
      <p:regular r:id="rId201314"/>
    </p:embeddedFont>
    <p:embeddedFont>
      <p:font typeface="Kanit ExtraLight"/>
      <p:regular r:id="rId201315"/>
    </p:embeddedFont>
    <p:embeddedFont>
      <p:font typeface="Kanit Bold"/>
      <p:regular r:id="rId201316"/>
    </p:embeddedFont>
    <p:embeddedFont>
      <p:font typeface="Kanit ExtraBold"/>
      <p:regular r:id="rId201317"/>
    </p:embeddedFont>
    <p:embeddedFont>
      <p:font typeface="Kanit Black"/>
      <p:regular r:id="rId201318"/>
    </p:embeddedFont>
    <p:embeddedFont>
      <p:font typeface="Kanit Light"/>
      <p:regular r:id="rId201319"/>
    </p:embeddedFont>
    <p:embeddedFont>
      <p:font typeface="Kanit"/>
      <p:regular r:id="rId201320"/>
    </p:embeddedFont>
    <p:embeddedFont>
      <p:font typeface="Kanit Medium"/>
      <p:regular r:id="rId201321"/>
    </p:embeddedFont>
    <p:embeddedFont>
      <p:font typeface="Kanit SemiBold"/>
      <p:regular r:id="rId201322"/>
    </p:embeddedFont>
    <p:embeddedFont>
      <p:font typeface="Martel Sans ExtraLight"/>
      <p:regular r:id="rId201323"/>
    </p:embeddedFont>
    <p:embeddedFont>
      <p:font typeface="Martel Sans Light"/>
      <p:regular r:id="rId201324"/>
    </p:embeddedFont>
    <p:embeddedFont>
      <p:font typeface="Martel Sans"/>
      <p:regular r:id="rId201325"/>
    </p:embeddedFont>
    <p:embeddedFont>
      <p:font typeface="Martel Sans SemiBold"/>
      <p:regular r:id="rId201326"/>
    </p:embeddedFont>
    <p:embeddedFont>
      <p:font typeface="Martel Sans Bold"/>
      <p:regular r:id="rId201327"/>
    </p:embeddedFont>
    <p:embeddedFont>
      <p:font typeface="Martel Sans ExtraBold"/>
      <p:regular r:id="rId201328"/>
    </p:embeddedFont>
    <p:embeddedFont>
      <p:font typeface="Martel Sans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71C4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0C3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086" y="1068288"/>
            <a:ext cx="938685" cy="527149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49054" y="1068288"/>
            <a:ext cx="969938" cy="528141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698086" y="2045097"/>
            <a:ext cx="3514042" cy="374848"/>
          </a:xfrm>
          <a:prstGeom prst="roundRect">
            <a:avLst>
              <a:gd name="adj" fmla="val 6386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fd505f">
                <a:alpha val="100000"/>
              </a:srgbClr>
            </a:outerShdw>
          </a:effectLst>
        </p:spPr>
      </p:sp>
      <p:sp>
        <p:nvSpPr>
          <p:cNvPr id="6" name="Text 1"/>
          <p:cNvSpPr/>
          <p:nvPr/>
        </p:nvSpPr>
        <p:spPr>
          <a:xfrm>
            <a:off x="817740" y="2104926"/>
            <a:ext cx="3884317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FD505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CIS GILEAD IDEATHON 2026 · AIOPS THEME</a:t>
            </a:r>
            <a:endParaRPr lang="en-US" sz="1250" dirty="0"/>
          </a:p>
        </p:txBody>
      </p:sp>
      <p:sp>
        <p:nvSpPr>
          <p:cNvPr id="7" name="Text 2"/>
          <p:cNvSpPr/>
          <p:nvPr/>
        </p:nvSpPr>
        <p:spPr>
          <a:xfrm>
            <a:off x="698086" y="2499717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AURA - The L0 Agent</a:t>
            </a:r>
            <a:endParaRPr lang="en-US" sz="3650" dirty="0"/>
          </a:p>
        </p:txBody>
      </p:sp>
      <p:sp>
        <p:nvSpPr>
          <p:cNvPr id="8" name="Text 3"/>
          <p:cNvSpPr/>
          <p:nvPr/>
        </p:nvSpPr>
        <p:spPr>
          <a:xfrm>
            <a:off x="698086" y="3385542"/>
            <a:ext cx="6833223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Agentic Unified Resolution &amp; Assistance</a:t>
            </a:r>
            <a:endParaRPr lang="en-US" sz="1550" dirty="0"/>
          </a:p>
        </p:txBody>
      </p:sp>
      <p:sp>
        <p:nvSpPr>
          <p:cNvPr id="9" name="Shape 4"/>
          <p:cNvSpPr/>
          <p:nvPr/>
        </p:nvSpPr>
        <p:spPr>
          <a:xfrm>
            <a:off x="698086" y="3929062"/>
            <a:ext cx="6223638" cy="1222276"/>
          </a:xfrm>
          <a:prstGeom prst="roundRect">
            <a:avLst>
              <a:gd name="adj" fmla="val 2448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704436" y="3935413"/>
            <a:ext cx="6210938" cy="120957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1" name="Text 6"/>
          <p:cNvSpPr/>
          <p:nvPr/>
        </p:nvSpPr>
        <p:spPr>
          <a:xfrm>
            <a:off x="903860" y="4061420"/>
            <a:ext cx="5812089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An adaptive AIOps intelligence layer revolutionizing the Gilead Enterprise Service Desk and elevating L1/L2 support operations.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698086" y="5375672"/>
            <a:ext cx="622363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Ryan Ahmed Tusi · 2485906 Analyst Trainee  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Gilead Sciences Inc · Cognizant Technology Solutions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201638"/>
            <a:ext cx="25399" cy="1771650"/>
          </a:xfrm>
          <a:prstGeom prst="roundRect">
            <a:avLst>
              <a:gd name="adj" fmla="val 60001"/>
            </a:avLst>
          </a:prstGeom>
          <a:solidFill>
            <a:srgbClr val="FD505F"/>
          </a:solidFill>
          <a:ln/>
        </p:spPr>
      </p:sp>
      <p:sp>
        <p:nvSpPr>
          <p:cNvPr id="4" name="Text 1"/>
          <p:cNvSpPr/>
          <p:nvPr/>
        </p:nvSpPr>
        <p:spPr>
          <a:xfrm>
            <a:off x="5569108" y="1500783"/>
            <a:ext cx="5924501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"There has never been a tier before L1."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269971" y="3197622"/>
            <a:ext cx="6223638" cy="245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Enterprise IT support has remained fundamentally unchanged for decades. A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user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encounters an issue,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L1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the human agent from contact center who answers first, and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L2</a:t>
            </a:r>
            <a:pPr algn="l" indent="0" marL="0">
              <a:lnSpc>
                <a:spcPct val="133000"/>
              </a:lnSpc>
              <a:spcAft>
                <a:spcPts val="175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, the specialist who takes what L1 cannot solve. The two-tier model itself has never changed, no one has ever added a layer before L1.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u="sng" dirty="0">
                <a:solidFill>
                  <a:srgbClr val="F5A623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What if Enterprise IT Support was designed around AI from the very beginning?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95213"/>
            <a:ext cx="8927281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Meet AURA: The AI-Native L0 Support Layer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454448"/>
            <a:ext cx="11405108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Redefining Enterprise IT Support by Introducing the Tier Before L1. Agentic Unified Resolution &amp; Assistance (AURA)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11620" y="1914327"/>
            <a:ext cx="7968356" cy="43483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86497" y="3757875"/>
            <a:ext cx="1413330" cy="23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AURA: AI-Native L0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95303" y="3999108"/>
            <a:ext cx="1595598" cy="4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First point of contact for users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389313" y="2866043"/>
            <a:ext cx="753280" cy="23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Agentic AI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858445" y="3107276"/>
            <a:ext cx="1814896" cy="253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Autonomous task execution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741267" y="4931325"/>
            <a:ext cx="1342867" cy="23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AIOps Automation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2549532" y="5172558"/>
            <a:ext cx="1726218" cy="4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Automated operations and alerts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332771" y="2362006"/>
            <a:ext cx="589347" cy="23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Voice AI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2983813" y="2603240"/>
            <a:ext cx="1287263" cy="417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Conversational user interactions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7722314" y="5358666"/>
            <a:ext cx="1626994" cy="23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Endpoint Remediation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772644" y="5599899"/>
            <a:ext cx="1526333" cy="253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99000"/>
              </a:lnSpc>
              <a:buNone/>
            </a:pPr>
            <a:r>
              <a:rPr lang="en-US" sz="1050" dirty="0">
                <a:solidFill>
                  <a:srgbClr val="F2F2F2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Fixes at the device level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233769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2933502"/>
            <a:ext cx="5009826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How AURA Works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98086" y="3746401"/>
            <a:ext cx="10795524" cy="2515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spcAft>
                <a:spcPts val="1550"/>
              </a:spcAft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AURA transforms Enterprise IT Support by introducing L0, an intelligent, autonomous support layer that serves as the first point of engagement for every IT request. Unlike traditional chatbots, AURA is a new AI-first operating model that understands user needs, verifies identity, resolves routine issues autonomously, remediates endpoint problems, and coordinates specialized AI agents. For complex tasks, it escalates seamlessly with a fully documented, context-rich ServiceNow ticket, while continuously assisting throughout the support journey.</a:t>
            </a:r>
            <a:endParaRPr lang="en-US" sz="1450" dirty="0"/>
          </a:p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By operating as the AI-native front door, AURA shifts the model from reactive, ticket-driven service to a proactive, predictive, intelligent, and continuously learning operational capability, pioneering the industry's first true AI-native support tier, 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AEE4BD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L0 tier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5129"/>
            <a:ext cx="5970637" cy="540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Current L1 Call Lifecycle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98086" y="1435001"/>
            <a:ext cx="11405108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Every call runs an identical, toil-heavy sequence and six data-backed pain points repeat inside it, every time.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920" y="1908274"/>
            <a:ext cx="10449755" cy="392132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14221" y="4886600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Transfer/Close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27860" y="4743895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Documentation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352294" y="4743895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Troubleshooting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3376729" y="4743895"/>
            <a:ext cx="1576134" cy="571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Verification (5 min approx)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357981" y="4886600"/>
            <a:ext cx="1576134" cy="2855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Call Arrives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98086" y="6020296"/>
            <a:ext cx="11405108" cy="282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E8384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Red stages = toil overhead</a:t>
            </a:r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· </a:t>
            </a:r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2F6B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Blue stage = real value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765274"/>
            <a:ext cx="5303209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Six Gaps, One Loop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750913"/>
            <a:ext cx="1140510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Six data-backed pain points repeat inside every call: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294434"/>
            <a:ext cx="398949" cy="3989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942729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Same Issue, Daily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98086" y="3355677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62% of tickets automatable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294434"/>
            <a:ext cx="398949" cy="3989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79704" y="2942729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Verification Tax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4379704" y="3355677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5 minutes approx. before troubleshooting starts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294434"/>
            <a:ext cx="398949" cy="398959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61322" y="2942729"/>
            <a:ext cx="243675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Double Documentation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8061322" y="3355677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Retyped from memory after every call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393009"/>
            <a:ext cx="398949" cy="398959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86" y="5041305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Context Lost</a:t>
            </a:r>
            <a:endParaRPr lang="en-US" sz="1800" dirty="0"/>
          </a:p>
        </p:txBody>
      </p:sp>
      <p:sp>
        <p:nvSpPr>
          <p:cNvPr id="15" name="Text 9"/>
          <p:cNvSpPr/>
          <p:nvPr/>
        </p:nvSpPr>
        <p:spPr>
          <a:xfrm>
            <a:off x="698086" y="5454253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~1 in 3 tickets escalate without a proper brief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79704" y="4393009"/>
            <a:ext cx="398949" cy="398959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79704" y="5041305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Availability Routing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4379704" y="5454253"/>
            <a:ext cx="343228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Not skill-matched. Whoever is next in queue. Less productive.</a:t>
            </a:r>
            <a:endParaRPr lang="en-US" sz="15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1322" y="4393009"/>
            <a:ext cx="398949" cy="398959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61322" y="5041305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Reactive Spikes</a:t>
            </a:r>
            <a:endParaRPr lang="en-US" sz="1800" dirty="0"/>
          </a:p>
        </p:txBody>
      </p:sp>
      <p:sp>
        <p:nvSpPr>
          <p:cNvPr id="21" name="Text 13"/>
          <p:cNvSpPr/>
          <p:nvPr/>
        </p:nvSpPr>
        <p:spPr>
          <a:xfrm>
            <a:off x="8061322" y="5454253"/>
            <a:ext cx="343228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Absorbed reactively, every week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1502271"/>
            <a:ext cx="6846716" cy="3853359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37708" y="773509"/>
            <a:ext cx="3462152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Why This Matters More at Gilead</a:t>
            </a:r>
            <a:endParaRPr lang="en-US" sz="3650" dirty="0"/>
          </a:p>
        </p:txBody>
      </p:sp>
      <p:sp>
        <p:nvSpPr>
          <p:cNvPr id="4" name="Text 1"/>
          <p:cNvSpPr/>
          <p:nvPr/>
        </p:nvSpPr>
        <p:spPr>
          <a:xfrm>
            <a:off x="8037708" y="2732980"/>
            <a:ext cx="3462152" cy="33713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 researcher locked out of a validated system can stall an experiment. A blocked analyst can delay a batch release. In a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AEE4BD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GxP</a:t>
            </a:r>
            <a:pPr algn="l" indent="0" marL="0">
              <a:lnSpc>
                <a:spcPct val="133000"/>
              </a:lnSpc>
              <a:spcAft>
                <a:spcPts val="1400"/>
              </a:spcAft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environment, downtime is not a productivity question, it is a regulatory and patient-safety question.</a:t>
            </a:r>
            <a:endParaRPr lang="en-US" sz="15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550" u="sng" dirty="0">
                <a:solidFill>
                  <a:srgbClr val="E8384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This is one of the gap the L0 Support Layer is built to close.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883841"/>
            <a:ext cx="10076702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Evidence: A Habit That Became a Dataset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869480"/>
            <a:ext cx="10795524" cy="670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AURA was observed into existence by myself answering these calls every day. The data is real, structured, and sourced.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Ticket Analysis Master · AURA docx · Refer Excel Workbook &amp; docx Attached ·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76393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98086" y="3077567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3228082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Week 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98086" y="3641030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I joined as L1 Voice Analyst at Gilead Enterprise Service Desk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195560" y="2763937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195560" y="3077567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0" name="Text 8"/>
          <p:cNvSpPr/>
          <p:nvPr/>
        </p:nvSpPr>
        <p:spPr>
          <a:xfrm>
            <a:off x="6195560" y="3228082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Weeks 1–12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195560" y="3641030"/>
            <a:ext cx="529804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Logged every call to find patterns: formula-driven, structured excel sheet (automated analysis)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98086" y="4628356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98086" y="4922044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4" name="Text 12"/>
          <p:cNvSpPr/>
          <p:nvPr/>
        </p:nvSpPr>
        <p:spPr>
          <a:xfrm>
            <a:off x="698086" y="5092502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Month 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98086" y="5505450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200+ ticket dataset revealing a system-level problem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195560" y="4628356"/>
            <a:ext cx="398949" cy="2493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Kanit Light" pitchFamily="34" charset="0"/>
                <a:ea typeface="Kanit Light" pitchFamily="34" charset="-122"/>
                <a:cs typeface="Kanit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6195560" y="4922044"/>
            <a:ext cx="5298049" cy="25400"/>
          </a:xfrm>
          <a:prstGeom prst="rect">
            <a:avLst/>
          </a:prstGeom>
          <a:solidFill>
            <a:srgbClr val="FA2F5C"/>
          </a:solidFill>
          <a:ln/>
        </p:spPr>
      </p:sp>
      <p:sp>
        <p:nvSpPr>
          <p:cNvPr id="18" name="Text 16"/>
          <p:cNvSpPr/>
          <p:nvPr/>
        </p:nvSpPr>
        <p:spPr>
          <a:xfrm>
            <a:off x="6195560" y="5092502"/>
            <a:ext cx="2607701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CIS GIlead Ideathon 2026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195560" y="5505450"/>
            <a:ext cx="5298049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AURA: the structural answer, assembled from evidence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91753"/>
            <a:ext cx="5629233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Dataset in Numbers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1677392"/>
            <a:ext cx="10795524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data collected over three months provides a clear quantitative overview of the service desk operations, highlighting critical areas for improvement and confirming the need for a solution like AURA.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698086" y="2639814"/>
            <a:ext cx="251185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F4444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200+</a:t>
            </a:r>
            <a:endParaRPr lang="en-US" sz="5150" dirty="0"/>
          </a:p>
        </p:txBody>
      </p:sp>
      <p:sp>
        <p:nvSpPr>
          <p:cNvPr id="5" name="Text 3"/>
          <p:cNvSpPr/>
          <p:nvPr/>
        </p:nvSpPr>
        <p:spPr>
          <a:xfrm>
            <a:off x="780634" y="354736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Tickets Logged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8086" y="3960316"/>
            <a:ext cx="2511858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3 months of structured data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459274" y="2639814"/>
            <a:ext cx="251185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F4444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143</a:t>
            </a:r>
            <a:endParaRPr lang="en-US" sz="5150" dirty="0"/>
          </a:p>
        </p:txBody>
      </p:sp>
      <p:sp>
        <p:nvSpPr>
          <p:cNvPr id="8" name="Text 6"/>
          <p:cNvSpPr/>
          <p:nvPr/>
        </p:nvSpPr>
        <p:spPr>
          <a:xfrm>
            <a:off x="3541822" y="354736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Resolved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59274" y="3960316"/>
            <a:ext cx="25118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~67 escalations recorded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220463" y="2639814"/>
            <a:ext cx="2511858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F4444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95</a:t>
            </a:r>
            <a:endParaRPr lang="en-US" sz="5150" dirty="0"/>
          </a:p>
        </p:txBody>
      </p:sp>
      <p:sp>
        <p:nvSpPr>
          <p:cNvPr id="11" name="Text 9"/>
          <p:cNvSpPr/>
          <p:nvPr/>
        </p:nvSpPr>
        <p:spPr>
          <a:xfrm>
            <a:off x="6303011" y="354736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KB-Driven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20463" y="3960316"/>
            <a:ext cx="2511858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Known-answer resolutions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981652" y="2639814"/>
            <a:ext cx="2511957" cy="6583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5150" dirty="0">
                <a:solidFill>
                  <a:srgbClr val="F44444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17.3</a:t>
            </a:r>
            <a:endParaRPr lang="en-US" sz="5150" dirty="0"/>
          </a:p>
        </p:txBody>
      </p:sp>
      <p:sp>
        <p:nvSpPr>
          <p:cNvPr id="14" name="Text 12"/>
          <p:cNvSpPr/>
          <p:nvPr/>
        </p:nvSpPr>
        <p:spPr>
          <a:xfrm>
            <a:off x="9064200" y="3547368"/>
            <a:ext cx="234676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Min Avg. Resolution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81652" y="3960316"/>
            <a:ext cx="2511957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Monday is peak volume day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98086" y="4823023"/>
            <a:ext cx="25399" cy="767854"/>
          </a:xfrm>
          <a:prstGeom prst="roundRect">
            <a:avLst>
              <a:gd name="adj" fmla="val 60001"/>
            </a:avLst>
          </a:prstGeom>
          <a:solidFill>
            <a:srgbClr val="FD505F"/>
          </a:solidFill>
          <a:ln/>
        </p:spPr>
      </p:sp>
      <p:sp>
        <p:nvSpPr>
          <p:cNvPr id="17" name="Text 15"/>
          <p:cNvSpPr/>
          <p:nvPr/>
        </p:nvSpPr>
        <p:spPr>
          <a:xfrm>
            <a:off x="997223" y="5047357"/>
            <a:ext cx="11105971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i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"AURA was not ideated in a single session. It was observed into existence."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98086" y="5815211"/>
            <a:ext cx="11405108" cy="350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  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Ticket Analysis Master · 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   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53244"/>
            <a:ext cx="7313330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Gilead Calls About and the ROI Map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698086" y="1060252"/>
            <a:ext cx="4276420" cy="4583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50" dirty="0">
                <a:solidFill>
                  <a:srgbClr val="E8384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131 / 212 ≈ 62%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698086" y="1701205"/>
            <a:ext cx="10795524" cy="444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Automation candidates — Password Reset alone is </a:t>
            </a:r>
            <a:pPr algn="l" indent="0" marL="0">
              <a:lnSpc>
                <a:spcPct val="119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94% automatable</a:t>
            </a:r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. KB-driven resolutions (95) vastly outnumber genuine manual troubleshooting (13).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419152"/>
            <a:ext cx="5207663" cy="37485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92296" y="2391767"/>
            <a:ext cx="5207663" cy="1023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9000"/>
              </a:lnSpc>
              <a:spcAft>
                <a:spcPts val="850"/>
              </a:spcAft>
              <a:buNone/>
            </a:pPr>
            <a:r>
              <a:rPr lang="en-US" sz="12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Password Reset dominates volume and is the highest-confidence automation target. The pattern is unambiguous, automate from the top of this chart downward.</a:t>
            </a:r>
            <a:endParaRPr lang="en-US" sz="1200" dirty="0"/>
          </a:p>
          <a:p>
            <a:pPr algn="l" indent="0" marL="0">
              <a:lnSpc>
                <a:spcPct val="119000"/>
              </a:lnSpc>
              <a:buNone/>
            </a:pPr>
            <a:r>
              <a:rPr lang="en-US" sz="12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Ticket Analysis Master · 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3271"/>
            <a:ext cx="8879658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Where the Time Goes and the Monday Spike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1472505"/>
            <a:ext cx="10795524" cy="5766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Most "resolution" is known-answer lookup wrapped in overhead. The worst day of the week is entirely foreseeable, not noise, but the calendar. 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highlight>
                  <a:srgbClr val="1D194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Source: Ticket Analysis Master · 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98086" y="2397224"/>
            <a:ext cx="3234649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Resolution Type Breakdown</a:t>
            </a:r>
            <a:endParaRPr lang="en-US" sz="16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847380"/>
            <a:ext cx="3847111" cy="25048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98086" y="5536505"/>
            <a:ext cx="51773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~88% resolve within 20-30 minutes, mostly verification and documentation, not troubleshooting.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322656" y="2397224"/>
            <a:ext cx="2848995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Volume by Day of Week</a:t>
            </a:r>
            <a:endParaRPr lang="en-US" sz="1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2656" y="2847380"/>
            <a:ext cx="4291401" cy="25144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322656" y="5546030"/>
            <a:ext cx="5177303" cy="5512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Monday is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E8384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2.3× Friday's volume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— entirely predictable, entirely addressable.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69971" y="1065907"/>
            <a:ext cx="1242981" cy="374848"/>
          </a:xfrm>
          <a:prstGeom prst="roundRect">
            <a:avLst>
              <a:gd name="adj" fmla="val 6386"/>
            </a:avLst>
          </a:prstGeom>
          <a:solidFill>
            <a:srgbClr val="4C0107"/>
          </a:solidFill>
          <a:ln/>
        </p:spPr>
      </p:sp>
      <p:sp>
        <p:nvSpPr>
          <p:cNvPr id="4" name="Text 1"/>
          <p:cNvSpPr/>
          <p:nvPr/>
        </p:nvSpPr>
        <p:spPr>
          <a:xfrm>
            <a:off x="5389626" y="1125736"/>
            <a:ext cx="1613257" cy="2551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2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THE INSIGHT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269971" y="1665089"/>
            <a:ext cx="25399" cy="2944912"/>
          </a:xfrm>
          <a:prstGeom prst="roundRect">
            <a:avLst>
              <a:gd name="adj" fmla="val 60001"/>
            </a:avLst>
          </a:prstGeom>
          <a:solidFill>
            <a:srgbClr val="FD505F"/>
          </a:solidFill>
          <a:ln/>
        </p:spPr>
      </p:sp>
      <p:sp>
        <p:nvSpPr>
          <p:cNvPr id="6" name="Text 3"/>
          <p:cNvSpPr/>
          <p:nvPr/>
        </p:nvSpPr>
        <p:spPr>
          <a:xfrm>
            <a:off x="5569108" y="1964234"/>
            <a:ext cx="5924501" cy="2346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What looked like a dozen automation ideas was one tier, waiting to be assembled.</a:t>
            </a:r>
            <a:endParaRPr lang="en-US" sz="3650" dirty="0"/>
          </a:p>
        </p:txBody>
      </p:sp>
      <p:sp>
        <p:nvSpPr>
          <p:cNvPr id="7" name="Text 4"/>
          <p:cNvSpPr/>
          <p:nvPr/>
        </p:nvSpPr>
        <p:spPr>
          <a:xfrm>
            <a:off x="5269971" y="4834434"/>
            <a:ext cx="622363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Password reset bots. Lockout agents. KB recommenders. Sentiment tags. Each one a fragment. Together, a layer that sits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before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L1.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0210"/>
            <a:ext cx="8912200" cy="5591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Introducing AURA: Two Faces, One System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98086" y="1491754"/>
            <a:ext cx="10795524" cy="5939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Agentic Unified Resolution &amp; Assistance</a:t>
            </a:r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: an AI-native platform introducing L0, a new autonomous layer before traditional L1 support.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FC9B7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Structurally placed between users and agents. </a:t>
            </a:r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Martel Sans Bold" pitchFamily="34" charset="0"/>
                <a:ea typeface="Martel Sans Bold" pitchFamily="34" charset="-122"/>
                <a:cs typeface="Martel Sans Bold" pitchFamily="34" charset="-120"/>
              </a:rPr>
              <a:t>Two faces. Four modes. One system.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2485" y="2289473"/>
            <a:ext cx="7326725" cy="399821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346809" y="4001983"/>
            <a:ext cx="1493230" cy="18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AURA L0 Platform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335349" y="4244947"/>
            <a:ext cx="1516148" cy="30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Agentic autonomous layer before L1 support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7743557" y="3106375"/>
            <a:ext cx="1614874" cy="18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Autonomous Resolution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676564" y="3349340"/>
            <a:ext cx="1748860" cy="30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L0 resolves common requests automatically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2882187" y="5080943"/>
            <a:ext cx="1493230" cy="18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Co‑pilot Verification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2754372" y="5323908"/>
            <a:ext cx="1748859" cy="309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L1/L2 checks and verifies actions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3079638" y="2718514"/>
            <a:ext cx="1493230" cy="18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End User Contact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51824" y="2961478"/>
            <a:ext cx="1748859" cy="30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First touchpoint with user issue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537511" y="5398284"/>
            <a:ext cx="1603855" cy="186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Summarize &amp; Document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465009" y="5641249"/>
            <a:ext cx="1748859" cy="309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Auto summaries and ticket updates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9636"/>
            <a:ext cx="5633996" cy="549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The Six Pillars - Key Ideas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98086" y="1480245"/>
            <a:ext cx="11405108" cy="2898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Six mechanisms, one loop: verification, remediation, escalation, documentation, prediction, and co-pilot support.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967210"/>
            <a:ext cx="373946" cy="3739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98086" y="2560241"/>
            <a:ext cx="3452428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Conversational AI &amp; Smart Verification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8086" y="3215481"/>
            <a:ext cx="345242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Natural voice, protocol run exactly. Voice-recognition is an </a:t>
            </a:r>
            <a:pPr algn="l" indent="0" marL="0">
              <a:lnSpc>
                <a:spcPct val="129000"/>
              </a:lnSpc>
              <a:buNone/>
            </a:pPr>
            <a:r>
              <a:rPr lang="en-US" sz="1450" i="1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additive</a:t>
            </a:r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 verification signal only.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9584" y="1967210"/>
            <a:ext cx="373946" cy="3739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9584" y="2560241"/>
            <a:ext cx="2586270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Autonomous Remediation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4369584" y="2940447"/>
            <a:ext cx="345242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Sub-agents + Nexthink remote actions fix issues end-to-end.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41082" y="1967210"/>
            <a:ext cx="373946" cy="3739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1082" y="2560241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Intelligent Escalation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8041082" y="2940447"/>
            <a:ext cx="345252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Skill-matched routing with a complete brief before the human picks up.</a:t>
            </a:r>
            <a:endParaRPr lang="en-US" sz="14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435574"/>
            <a:ext cx="373946" cy="3739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98086" y="5028605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Auto-Documentation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698086" y="5408811"/>
            <a:ext cx="3452428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Complete, timestamped, GxP-ready ServiceNow tickets generated automatically.</a:t>
            </a:r>
            <a:endParaRPr lang="en-US" sz="14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9584" y="4435574"/>
            <a:ext cx="373946" cy="373955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69584" y="5028605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Predictive Operations</a:t>
            </a:r>
            <a:endParaRPr lang="en-US" sz="1700" dirty="0"/>
          </a:p>
        </p:txBody>
      </p:sp>
      <p:sp>
        <p:nvSpPr>
          <p:cNvPr id="18" name="Text 11"/>
          <p:cNvSpPr/>
          <p:nvPr/>
        </p:nvSpPr>
        <p:spPr>
          <a:xfrm>
            <a:off x="4369584" y="5408811"/>
            <a:ext cx="345242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Recurring patterns acted on before the next wave arrives.</a:t>
            </a:r>
            <a:endParaRPr lang="en-US" sz="14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41082" y="4435574"/>
            <a:ext cx="373946" cy="373955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041082" y="5028605"/>
            <a:ext cx="2200121" cy="275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D9E1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Active L0 Co-Pilot</a:t>
            </a:r>
            <a:endParaRPr lang="en-US" sz="1700" dirty="0"/>
          </a:p>
        </p:txBody>
      </p:sp>
      <p:sp>
        <p:nvSpPr>
          <p:cNvPr id="21" name="Text 13"/>
          <p:cNvSpPr/>
          <p:nvPr/>
        </p:nvSpPr>
        <p:spPr>
          <a:xfrm>
            <a:off x="8041082" y="5408811"/>
            <a:ext cx="3452528" cy="5796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D9E1FF"/>
                </a:solidFill>
                <a:latin typeface="Martel Sans Light" pitchFamily="34" charset="0"/>
                <a:ea typeface="Martel Sans Light" pitchFamily="34" charset="-122"/>
                <a:cs typeface="Martel Sans Light" pitchFamily="34" charset="-120"/>
              </a:rPr>
              <a:t>Live transcript listening, assists humans mid-call without being asked.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2026-07-05T11:37:31Z</dcterms:created>
  <dcterms:modified xsi:type="dcterms:W3CDTF">2026-07-05T11:37:31Z</dcterms:modified>
</cp:coreProperties>
</file>